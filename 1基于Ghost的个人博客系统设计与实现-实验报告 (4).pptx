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8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zh-CN" alt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基于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Ghost的个人博客系统设计与实现。本次实验主要完成了系统部署、自定义主题开发、本地搜索功能和会员评论权限配置四个核心模块。下面我从研究背景开始逐一介绍。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次汇报分为六个部分：首先介绍研究背景与系统设计目标，然后说明技术架构与部署环境，接着重点展示四个核心功能模块的实现，之后给出测试用例与结果分析，再说明实验中遇到的问题及解决方案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选择Ghost作为博客系统，是因为它是一个现代化的Headless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CMS，提供完整的内容API，非常适合学习Web系统的前后端分离架构。本项目的设计目标包括五个方面：本地部署、文章管理、自定义主题、本地搜索和评论权限配置。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Noto Sans SC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这是会员权限的实际配置界面。左侧是Membership设置页面，我们将评论权限Who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comment on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posts设置为All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members，即只有登录会员才能发表评论。右侧是会员管理列表，可以看到已经创建了两个测试会员MemberA和MemberB。游客访问文章页面时没有评论输入框，只有登录会员才能评论。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四个模块是会员评论权限控制。我们在后台将评论权限设置为仅会员可评论。游客可以自由浏览所有文章和使用搜索功能，但没有评论输入框；只有登录会员才能在文章底部发表评论。管理员可以在后台Comments菜单审核管理所有评论。受本地环境限制，SMTP邮件服务未配置，会员登录魔法链接无法投递，但权限逻辑已完整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800" kern="1200" dirty="0">
              <a:solidFill>
                <a:srgbClr val="3C3C3C"/>
              </a:solidFill>
              <a:latin typeface="Noto Sans SC"/>
              <a:ea typeface="Noto Sans SC"/>
              <a:cs typeface="+mn-cs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endParaRPr lang="en-US" sz="1400" b="0" i="0" u="none" strike="noStrik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 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sz="quarter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我的汇报到此结束，感谢各位老师的聆听。欢迎老师们提出问题和宝贵意见，我会认真回答。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0000"/>
              </a:lnSpc>
              <a:buNone/>
              <a:defRPr sz="4500"/>
            </a:lvl1pPr>
          </a:lstStyle>
          <a:p>
            <a:pPr marR="0" algn="ctr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0000"/>
              </a:lnSpc>
              <a:buNone/>
              <a:defRPr sz="1800"/>
            </a:lvl1pPr>
          </a:lstStyle>
          <a:p>
            <a:pPr marL="457200" marR="0" indent="-361950" algn="ctr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D9A328D7-466A-43C1-8346-568E436C525C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C65BD44E-7E55-4A97-94CD-437CB95B989A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4500"/>
            </a:lvl1pPr>
          </a:lstStyle>
          <a:p>
            <a:pPr marR="0" algn="l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956B7B39-3179-447C-BEC2-E0F200E32C05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B14AD1C6-B66E-4025-BAFC-DE08624D8E60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59DE95B1-5C84-47FD-AA75-8115D565FAD9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A7CFC0B7-CED2-4A91-97BB-FDF4E1645AD0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BD2E3734-30B0-48A4-A22A-0C86CB9FF1F2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L="457200" marR="0" indent="-381000" algn="l">
              <a:lnSpc>
                <a:spcPct val="90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BFC0F011-1002-4DC4-BD75-BCF906D161A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D47BA780-6558-4196-8848-36DF40151709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77C45454-E614-4767-84AE-CD35BCB4D64E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C818BD41-F200-40B0-A81D-016F6C1947F9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Office 主题​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/>
            </a:lvl1pPr>
          </a:lstStyle>
          <a:p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/>
            </a:lvl1pPr>
          </a:lstStyle>
          <a:p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>
            <a:pPr marL="0" marR="0" algn="r">
              <a:lnSpc>
                <a:spcPct val="100000"/>
              </a:lnSpc>
            </a:pPr>
            <a:fld id="{2577AE5C-3EE0-4159-90A2-059F91A01D60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zh-CN" sz="900" b="0" i="0" u="none" strike="noStrike" spc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默认主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5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2FA7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毕业设计实验报告</a:t>
            </a:r>
          </a:p>
        </p:txBody>
      </p:sp>
      <p:sp>
        <p:nvSpPr>
          <p:cNvPr id="4" name="Text Box 3"/>
          <p:cNvSpPr txBox="1">
            <a:spLocks noGrp="1"/>
          </p:cNvSpPr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40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基于Ghost的个人博客系统</a:t>
            </a:r>
          </a:p>
        </p:txBody>
      </p: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40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设计与实现</a:t>
            </a:r>
          </a:p>
        </p:txBody>
      </p:sp>
      <p:cxnSp>
        <p:nvCxnSpPr>
          <p:cNvPr id="6" name="Connector"/>
          <p:cNvCxnSpPr/>
          <p:nvPr/>
        </p:nvCxnSpPr>
        <p:spPr>
          <a:xfrm rot="-28647">
            <a:off x="1016026" y="4692650"/>
            <a:ext cx="1524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02FA7"/>
            </a:solidFill>
            <a:round/>
          </a:ln>
        </p:spPr>
      </p:cxnSp>
      <p:sp>
        <p:nvSpPr>
          <p:cNvPr id="7" name="Text Box 6"/>
          <p:cNvSpPr txBox="1">
            <a:spLocks noGrp="1"/>
          </p:cNvSpPr>
          <p:nvPr/>
        </p:nvSpPr>
        <p:spPr>
          <a:xfrm>
            <a:off x="1016000" y="5080000"/>
            <a:ext cx="635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0" i="0" u="none" strike="noStrike" spc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altLang="en-US" sz="1400" b="0" i="0" u="none" strike="noStrike" spc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</a:t>
            </a:r>
            <a:r>
              <a:rPr lang="en-US" sz="1400" b="0" i="0" u="none" strike="noStrike" spc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内容：系统部署</a:t>
            </a:r>
            <a:r>
              <a:rPr lang="en-US" sz="1400" b="0" i="0" u="none" strike="noStrike" spc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spc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主题定制</a:t>
            </a:r>
            <a:r>
              <a:rPr lang="en-US" sz="1400" b="0" i="0" u="none" strike="noStrike" spc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spc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本地搜索</a:t>
            </a:r>
            <a:r>
              <a:rPr lang="en-US" sz="1400" b="0" i="0" u="none" strike="noStrike" spc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spc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权限配置</a:t>
            </a:r>
            <a:r>
              <a:rPr lang="zh-CN" altLang="en-US" sz="1400" b="0" i="0" u="none" strike="noStrike" spc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四个核心模块</a:t>
            </a:r>
            <a:endParaRPr lang="en-US" sz="1400" b="0" i="0" u="none" strike="noStrike" spc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Text Box 7"/>
          <p:cNvSpPr txBox="1">
            <a:spLocks noGrp="1"/>
          </p:cNvSpPr>
          <p:nvPr/>
        </p:nvSpPr>
        <p:spPr>
          <a:xfrm>
            <a:off x="1016000" y="5969000"/>
            <a:ext cx="508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zh-CN" altLang="en-US" sz="2400" b="0" i="0" u="none" strike="noStrike" spc="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软件</a:t>
            </a:r>
            <a:r>
              <a:rPr lang="en-US" altLang="zh-CN" sz="2400" b="0" i="0" u="none" strike="noStrike" spc="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2302</a:t>
            </a:r>
            <a:r>
              <a:rPr lang="zh-CN" altLang="en-US" sz="2400" b="0" i="0" u="none" strike="noStrike" spc="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孙安然 </a:t>
            </a:r>
            <a:r>
              <a:rPr lang="en-US" altLang="zh-CN" sz="2400" b="0" i="0" u="none" strike="noStrike" spc="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23120902197</a:t>
            </a:r>
            <a:endParaRPr lang="en-US" sz="2400" b="0" i="0" u="none" strike="noStrike" spc="0" dirty="0">
              <a:solidFill>
                <a:srgbClr val="0070C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762000"/>
            <a:ext cx="508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 录</a:t>
            </a:r>
          </a:p>
        </p:txBody>
      </p:sp>
      <p:cxnSp>
        <p:nvCxnSpPr>
          <p:cNvPr id="3" name="Connector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4" name="Text Box 3"/>
          <p:cNvSpPr txBox="1">
            <a:spLocks noGrp="1"/>
          </p:cNvSpPr>
          <p:nvPr/>
        </p:nvSpPr>
        <p:spPr>
          <a:xfrm>
            <a:off x="1016000" y="1905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5" name="Text Box 4"/>
          <p:cNvSpPr txBox="1">
            <a:spLocks noGrp="1"/>
          </p:cNvSpPr>
          <p:nvPr/>
        </p:nvSpPr>
        <p:spPr>
          <a:xfrm>
            <a:off x="1905000" y="1905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研究背景与系统设计目标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905000" y="2286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博客系统选型与功能需求分析</a:t>
            </a:r>
          </a:p>
        </p:txBody>
      </p:sp>
      <p:cxnSp>
        <p:nvCxnSpPr>
          <p:cNvPr id="7" name="Connector"/>
          <p:cNvCxnSpPr/>
          <p:nvPr/>
        </p:nvCxnSpPr>
        <p:spPr>
          <a:xfrm rot="-9549">
            <a:off x="1016009" y="2724150"/>
            <a:ext cx="457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8" name="Text Box 7"/>
          <p:cNvSpPr txBox="1">
            <a:spLocks noGrp="1"/>
          </p:cNvSpPr>
          <p:nvPr/>
        </p:nvSpPr>
        <p:spPr>
          <a:xfrm>
            <a:off x="1016000" y="2921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1905000" y="2921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技术架构与部署环境</a:t>
            </a:r>
          </a:p>
        </p:txBody>
      </p:sp>
      <p:sp>
        <p:nvSpPr>
          <p:cNvPr id="10" name="Text Box 9"/>
          <p:cNvSpPr txBox="1">
            <a:spLocks noGrp="1"/>
          </p:cNvSpPr>
          <p:nvPr/>
        </p:nvSpPr>
        <p:spPr>
          <a:xfrm>
            <a:off x="1905000" y="3302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Ghost CMS架构与本地部署方案</a:t>
            </a:r>
          </a:p>
        </p:txBody>
      </p:sp>
      <p:cxnSp>
        <p:nvCxnSpPr>
          <p:cNvPr id="11" name="Connector"/>
          <p:cNvCxnSpPr/>
          <p:nvPr/>
        </p:nvCxnSpPr>
        <p:spPr>
          <a:xfrm rot="-9549">
            <a:off x="1016009" y="3740150"/>
            <a:ext cx="457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12" name="Text Box 11"/>
          <p:cNvSpPr txBox="1">
            <a:spLocks noGrp="1"/>
          </p:cNvSpPr>
          <p:nvPr/>
        </p:nvSpPr>
        <p:spPr>
          <a:xfrm>
            <a:off x="1016000" y="3937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13" name="Text Box 12"/>
          <p:cNvSpPr txBox="1">
            <a:spLocks noGrp="1"/>
          </p:cNvSpPr>
          <p:nvPr/>
        </p:nvSpPr>
        <p:spPr>
          <a:xfrm>
            <a:off x="1905000" y="3937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核心功能模块实现</a:t>
            </a:r>
          </a:p>
        </p:txBody>
      </p:sp>
      <p:sp>
        <p:nvSpPr>
          <p:cNvPr id="14" name="Text Box 13"/>
          <p:cNvSpPr txBox="1">
            <a:spLocks noGrp="1"/>
          </p:cNvSpPr>
          <p:nvPr/>
        </p:nvSpPr>
        <p:spPr>
          <a:xfrm>
            <a:off x="1905000" y="431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文章管理 · 主题定制 · 搜索 · 评论权限</a:t>
            </a:r>
          </a:p>
        </p:txBody>
      </p:sp>
      <p:cxnSp>
        <p:nvCxnSpPr>
          <p:cNvPr id="15" name="Connector"/>
          <p:cNvCxnSpPr/>
          <p:nvPr/>
        </p:nvCxnSpPr>
        <p:spPr>
          <a:xfrm rot="-9549">
            <a:off x="1016009" y="4756150"/>
            <a:ext cx="457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16" name="Text Box 15"/>
          <p:cNvSpPr txBox="1">
            <a:spLocks noGrp="1"/>
          </p:cNvSpPr>
          <p:nvPr/>
        </p:nvSpPr>
        <p:spPr>
          <a:xfrm>
            <a:off x="6604000" y="1905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17" name="Text Box 16"/>
          <p:cNvSpPr txBox="1">
            <a:spLocks noGrp="1"/>
          </p:cNvSpPr>
          <p:nvPr/>
        </p:nvSpPr>
        <p:spPr>
          <a:xfrm>
            <a:off x="7493000" y="1905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测试用例与结果分析</a:t>
            </a:r>
          </a:p>
        </p:txBody>
      </p:sp>
      <p:sp>
        <p:nvSpPr>
          <p:cNvPr id="18" name="Text Box 17"/>
          <p:cNvSpPr txBox="1">
            <a:spLocks noGrp="1"/>
          </p:cNvSpPr>
          <p:nvPr/>
        </p:nvSpPr>
        <p:spPr>
          <a:xfrm>
            <a:off x="7493000" y="2286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 · 权限验证 · 搜索测试</a:t>
            </a:r>
          </a:p>
        </p:txBody>
      </p:sp>
      <p:cxnSp>
        <p:nvCxnSpPr>
          <p:cNvPr id="19" name="Connector"/>
          <p:cNvCxnSpPr/>
          <p:nvPr/>
        </p:nvCxnSpPr>
        <p:spPr>
          <a:xfrm rot="-9549">
            <a:off x="6604009" y="2724150"/>
            <a:ext cx="457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20" name="Text Box 19"/>
          <p:cNvSpPr txBox="1">
            <a:spLocks noGrp="1"/>
          </p:cNvSpPr>
          <p:nvPr/>
        </p:nvSpPr>
        <p:spPr>
          <a:xfrm>
            <a:off x="6604000" y="2921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</a:p>
        </p:txBody>
      </p:sp>
      <p:sp>
        <p:nvSpPr>
          <p:cNvPr id="21" name="Text Box 20"/>
          <p:cNvSpPr txBox="1">
            <a:spLocks noGrp="1"/>
          </p:cNvSpPr>
          <p:nvPr/>
        </p:nvSpPr>
        <p:spPr>
          <a:xfrm>
            <a:off x="7493000" y="2921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问题与解决方案</a:t>
            </a:r>
          </a:p>
        </p:txBody>
      </p:sp>
      <p:sp>
        <p:nvSpPr>
          <p:cNvPr id="22" name="Text Box 21"/>
          <p:cNvSpPr txBox="1">
            <a:spLocks noGrp="1"/>
          </p:cNvSpPr>
          <p:nvPr/>
        </p:nvSpPr>
        <p:spPr>
          <a:xfrm>
            <a:off x="7493000" y="3302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SMTP配置 · JSON语法 · 登录限流</a:t>
            </a:r>
          </a:p>
        </p:txBody>
      </p:sp>
      <p:cxnSp>
        <p:nvCxnSpPr>
          <p:cNvPr id="23" name="Connector"/>
          <p:cNvCxnSpPr/>
          <p:nvPr/>
        </p:nvCxnSpPr>
        <p:spPr>
          <a:xfrm rot="-9549">
            <a:off x="6604009" y="3740150"/>
            <a:ext cx="457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24" name="Text Box 23"/>
          <p:cNvSpPr txBox="1">
            <a:spLocks noGrp="1"/>
          </p:cNvSpPr>
          <p:nvPr/>
        </p:nvSpPr>
        <p:spPr>
          <a:xfrm>
            <a:off x="6604000" y="3937000"/>
            <a:ext cx="762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0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</a:p>
        </p:txBody>
      </p:sp>
      <p:sp>
        <p:nvSpPr>
          <p:cNvPr id="25" name="Text Box 24"/>
          <p:cNvSpPr txBox="1">
            <a:spLocks noGrp="1"/>
          </p:cNvSpPr>
          <p:nvPr/>
        </p:nvSpPr>
        <p:spPr>
          <a:xfrm>
            <a:off x="7493000" y="3937000"/>
            <a:ext cx="381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</a:p>
        </p:txBody>
      </p:sp>
      <p:sp>
        <p:nvSpPr>
          <p:cNvPr id="26" name="Text Box 25"/>
          <p:cNvSpPr txBox="1">
            <a:spLocks noGrp="1"/>
          </p:cNvSpPr>
          <p:nvPr/>
        </p:nvSpPr>
        <p:spPr>
          <a:xfrm>
            <a:off x="7493000" y="431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实验成果总结与后续改进方向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研究背景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为什么选择Ghost搭建个人博客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222500"/>
            <a:ext cx="4826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67000"/>
            <a:ext cx="4826000" cy="2540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33333"/>
              </a:lnSpc>
            </a:pP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个人博客是记录学习思考、沉淀技术笔记的重要载体。传统静态网页需要手动修改代码更新内容，效率低下；而内容管理系统（CMS）将内容与页面样式分离，使非专业开发者也能便捷地发布和管理文章。</a:t>
            </a:r>
            <a:r>
              <a:rPr lang="zh-CN" alt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提供完整的内容</a:t>
            </a:r>
            <a:r>
              <a:rPr lang="en-US" altLang="zh-CN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zh-CN" alt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，非常适合学习</a:t>
            </a:r>
            <a:r>
              <a:rPr lang="en-US" altLang="zh-CN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Web</a:t>
            </a:r>
            <a:r>
              <a:rPr lang="zh-CN" alt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系统的前后端分离架构。本项目的设计目标包括五个方面：本地部署、文章管理、自定义主题、本地搜索和评论权限配置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5385968">
            <a:off x="4667250" y="3771913"/>
            <a:ext cx="31115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2D2D2"/>
            </a:solidFill>
            <a:round/>
          </a:ln>
        </p:spPr>
      </p:cxnSp>
      <p:sp>
        <p:nvSpPr>
          <p:cNvPr id="8" name="Text Box 7"/>
          <p:cNvSpPr txBox="1">
            <a:spLocks noGrp="1"/>
          </p:cNvSpPr>
          <p:nvPr/>
        </p:nvSpPr>
        <p:spPr>
          <a:xfrm>
            <a:off x="6604000" y="2222500"/>
            <a:ext cx="4826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</a:t>
            </a: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6604000" y="2667000"/>
            <a:ext cx="4826000" cy="2540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基于Ghost</a:t>
            </a: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CMS完成本地部署与基础配置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实现文章发布、标签分类与内容归档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自定义主题组件，视觉与功能修改可在源码定位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基于Content</a:t>
            </a: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API实现前端本地关键词搜索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配置会员评论权限，区分游客与会员访问权限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技术架构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系统架构与部署环境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159000"/>
            <a:ext cx="2540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</a:p>
        </p:txBody>
      </p:sp>
      <p:graphicFrame>
        <p:nvGraphicFramePr>
          <p:cNvPr id="6" name="Table"/>
          <p:cNvGraphicFramePr/>
          <p:nvPr/>
        </p:nvGraphicFramePr>
        <p:xfrm>
          <a:off x="1016000" y="2603500"/>
          <a:ext cx="4826000" cy="2286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技术选型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Ghost CMS (Node.js)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模板引擎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Handlebars (.hbs)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 / SQLite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前端交互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JavaScript + Ghost Content API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>
            <a:spLocks noGrp="1"/>
          </p:cNvSpPr>
          <p:nvPr/>
        </p:nvSpPr>
        <p:spPr>
          <a:xfrm>
            <a:off x="6604000" y="2159000"/>
            <a:ext cx="2540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部署环境</a:t>
            </a:r>
          </a:p>
        </p:txBody>
      </p:sp>
      <p:graphicFrame>
        <p:nvGraphicFramePr>
          <p:cNvPr id="8" name="Table"/>
          <p:cNvGraphicFramePr/>
          <p:nvPr/>
        </p:nvGraphicFramePr>
        <p:xfrm>
          <a:off x="6604000" y="2603500"/>
          <a:ext cx="4572000" cy="2286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操作系统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Linux (Ubuntu)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运行环境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Node.js 18 LTS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访问地址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http://localhost:2368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管理端口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后台 /ghost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7ABE190-96F9-405E-9100-11A518CBCC6D}"/>
              </a:ext>
            </a:extLst>
          </p:cNvPr>
          <p:cNvSpPr txBox="1"/>
          <p:nvPr/>
        </p:nvSpPr>
        <p:spPr>
          <a:xfrm>
            <a:off x="1016000" y="5374648"/>
            <a:ext cx="6636657" cy="152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系统采用前后端分离架构。应用层是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 CMS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，基于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Node.js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运行；模板层使用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Handlebars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引擎渲染页面；数据存储在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MySQL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数据库中。本项目部署在本地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Linux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环境，通过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localhost:2368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访问前台博客。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系统运行效果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前台首页效果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t="60" b="60"/>
          <a:stretch>
            <a:fillRect/>
          </a:stretch>
        </p:blipFill>
        <p:spPr>
          <a:xfrm>
            <a:off x="1016000" y="1714500"/>
            <a:ext cx="6418943" cy="43561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4481C8C-4022-42B9-B31D-DDF9D5EF1939}"/>
              </a:ext>
            </a:extLst>
          </p:cNvPr>
          <p:cNvSpPr txBox="1"/>
          <p:nvPr/>
        </p:nvSpPr>
        <p:spPr>
          <a:xfrm>
            <a:off x="7946571" y="2461389"/>
            <a:ext cx="3048000" cy="410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这是博客前台首页的实际运行效果。顶部导航栏包含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Home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、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About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、博客名称</a:t>
            </a:r>
            <a:r>
              <a:rPr lang="en-US" altLang="zh-CN" dirty="0" err="1">
                <a:solidFill>
                  <a:srgbClr val="3C3C3C"/>
                </a:solidFill>
                <a:latin typeface="Noto Sans SC"/>
                <a:ea typeface="Noto Sans SC"/>
              </a:rPr>
              <a:t>MyBlog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、搜索图标、登录和订阅按钮。页面主体是一个渐变紫色的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Hero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区域，显示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Thoughts, stories and ideas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标语和邮箱订阅输入框。整个页面由主题模板渲染，访客可以自由浏览。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系统运行效果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前台文章详情页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t="15" b="15"/>
          <a:stretch>
            <a:fillRect/>
          </a:stretch>
        </p:blipFill>
        <p:spPr>
          <a:xfrm>
            <a:off x="1333500" y="1651000"/>
            <a:ext cx="6406243" cy="45085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D8FED9A-62CE-4928-8324-5AD6984C8E97}"/>
              </a:ext>
            </a:extLst>
          </p:cNvPr>
          <p:cNvSpPr txBox="1"/>
          <p:nvPr/>
        </p:nvSpPr>
        <p:spPr>
          <a:xfrm>
            <a:off x="8498113" y="2480493"/>
            <a:ext cx="2645229" cy="373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这是文章详情页的实际效果。页面显示文章标题、作者信息、发布日期和阅读时长，正文内容由后台编辑器撰写后存储在数据库中，前端通过主题模板渲染展示。访客可以浏览完整文章内容，底部有分享按钮。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核心功能模块 (1/4)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文章管理与标签分类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2225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实现内容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67000"/>
            <a:ext cx="4826000" cy="2540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后台支持文章的新增、编辑、删除与发布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创建三个标签：技术笔记、读书分享、生活随笔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每篇文章绑定对应标签，实现内容归档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前台点击标签可查看该分类下所有文章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共发布15篇文章，覆盖三类标签</a:t>
            </a: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6604000" y="22225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标签分类统计</a:t>
            </a:r>
          </a:p>
        </p:txBody>
      </p:sp>
      <p:graphicFrame>
        <p:nvGraphicFramePr>
          <p:cNvPr id="8" name="Table"/>
          <p:cNvGraphicFramePr/>
          <p:nvPr/>
        </p:nvGraphicFramePr>
        <p:xfrm>
          <a:off x="6604000" y="2667000"/>
          <a:ext cx="4572000" cy="2032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标签名称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文章数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占比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技术笔记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27%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读书分享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生活随笔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1A9873A-B75D-45FC-BA5E-247ACF10037B}"/>
              </a:ext>
            </a:extLst>
          </p:cNvPr>
          <p:cNvSpPr txBox="1"/>
          <p:nvPr/>
        </p:nvSpPr>
        <p:spPr>
          <a:xfrm>
            <a:off x="1016000" y="5295900"/>
            <a:ext cx="6096000" cy="1524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第一个核心模块是文章管理与标签分类。我们在后台创建了技术笔记、读书分享、生活随笔三个标签，共发布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15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篇文章。读者点击标签即可按主题浏览同类文章，实现了内容的结构化归档。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系统运行效果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后台文章管理与标签分类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t="84" b="84"/>
          <a:stretch>
            <a:fillRect/>
          </a:stretch>
        </p:blipFill>
        <p:spPr>
          <a:xfrm>
            <a:off x="1016000" y="1714500"/>
            <a:ext cx="6223000" cy="3365500"/>
          </a:xfrm>
          <a:prstGeom prst="rect">
            <a:avLst/>
          </a:prstGeom>
          <a:ln w="12700" cap="flat" cmpd="sng">
            <a:noFill/>
            <a:round/>
          </a:ln>
        </p:spPr>
      </p:pic>
      <p:pic>
        <p:nvPicPr>
          <p:cNvPr id="6" name="Picture 5"/>
          <p:cNvPicPr/>
          <p:nvPr/>
        </p:nvPicPr>
        <p:blipFill>
          <a:blip r:embed="rId4"/>
          <a:srcRect l="164" r="164"/>
          <a:stretch>
            <a:fillRect/>
          </a:stretch>
        </p:blipFill>
        <p:spPr>
          <a:xfrm>
            <a:off x="7493000" y="1841500"/>
            <a:ext cx="3683000" cy="17653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Text Box 6"/>
          <p:cNvSpPr txBox="1">
            <a:spLocks noGrp="1"/>
          </p:cNvSpPr>
          <p:nvPr/>
        </p:nvSpPr>
        <p:spPr>
          <a:xfrm>
            <a:off x="1016000" y="5207000"/>
            <a:ext cx="6223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左：后台文章列表，显示已发布文章及所属标签</a:t>
            </a:r>
          </a:p>
        </p:txBody>
      </p:sp>
      <p:sp>
        <p:nvSpPr>
          <p:cNvPr id="8" name="Text Box 7"/>
          <p:cNvSpPr txBox="1">
            <a:spLocks noGrp="1"/>
          </p:cNvSpPr>
          <p:nvPr/>
        </p:nvSpPr>
        <p:spPr>
          <a:xfrm>
            <a:off x="7493000" y="3810000"/>
            <a:ext cx="3683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右：标签管理，含技术笔记/读书分享/生活随笔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A4715-1810-4020-91D5-77236804CD0F}"/>
              </a:ext>
            </a:extLst>
          </p:cNvPr>
          <p:cNvSpPr txBox="1"/>
          <p:nvPr/>
        </p:nvSpPr>
        <p:spPr>
          <a:xfrm>
            <a:off x="1070429" y="5534561"/>
            <a:ext cx="9619342" cy="11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33333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这是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后台的实际管理界面。左侧是文章列表，显示每篇文章的标题、作者、所属标签和发布状态；右侧是标签管理页面，可以看到我们创建的三个标签：技术笔记、读书分享、生活随笔，每个标签都有对应的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slug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和文章数量。管理员在这里完成所有内容管理操作。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核心功能模块 (2/4)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自定义主题与组件开发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03500"/>
            <a:ext cx="4826000" cy="279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复制默认Casper主题为my-theme，作为自定义主题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主题采用Handlebars模板，组件化拆分页面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页面结构修改：定位至对应.hbs模板文件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视觉样式修改：定位至assets</a:t>
            </a: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css下样式文件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功能组件（搜索框</a:t>
            </a: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）：</a:t>
            </a: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写入partials</a:t>
            </a:r>
            <a:r>
              <a:rPr lang="en-US" sz="14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footer.hbs</a:t>
            </a:r>
            <a:endParaRPr lang="en-US" sz="14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6604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主题源码目录结构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6604000" y="2603500"/>
            <a:ext cx="4572000" cy="2794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D2D2D2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6858000" y="2730500"/>
            <a:ext cx="4064000" cy="2540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my-theme/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├── index.hbs # 首页模板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├── post.hbs # 文章详情页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├── tag.hbs # 标签归档页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├── partials/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│ ├── header.hbs # 头部组件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│ └── footer.hbs # 页脚+搜索组件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└── assets/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├── css/ # 视觉样式</a:t>
            </a:r>
          </a:p>
          <a:p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└── js/ # 交互脚本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9B1A50-41BB-4348-84F2-8B7D3E4B0481}"/>
              </a:ext>
            </a:extLst>
          </p:cNvPr>
          <p:cNvSpPr txBox="1"/>
          <p:nvPr/>
        </p:nvSpPr>
        <p:spPr>
          <a:xfrm>
            <a:off x="801915" y="5003801"/>
            <a:ext cx="5254170" cy="158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第二个模块是自定义主题开发。我们复制了官方</a:t>
            </a:r>
            <a:r>
              <a:rPr lang="en-US" altLang="zh-CN" sz="1400" dirty="0">
                <a:solidFill>
                  <a:srgbClr val="3C3C3C"/>
                </a:solidFill>
                <a:latin typeface="Noto Sans SC"/>
                <a:ea typeface="Noto Sans SC"/>
              </a:rPr>
              <a:t>Casper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主题得到</a:t>
            </a:r>
            <a:r>
              <a:rPr lang="en-US" altLang="zh-CN" sz="1400" dirty="0">
                <a:solidFill>
                  <a:srgbClr val="3C3C3C"/>
                </a:solidFill>
                <a:latin typeface="Noto Sans SC"/>
                <a:ea typeface="Noto Sans SC"/>
              </a:rPr>
              <a:t>my-theme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，所有修改都在这个源码目录中完成。页面结构在</a:t>
            </a:r>
            <a:r>
              <a:rPr lang="en-US" altLang="zh-CN" sz="1400" dirty="0" err="1">
                <a:solidFill>
                  <a:srgbClr val="3C3C3C"/>
                </a:solidFill>
                <a:latin typeface="Noto Sans SC"/>
                <a:ea typeface="Noto Sans SC"/>
              </a:rPr>
              <a:t>hbs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模板文件中，视觉样式在</a:t>
            </a:r>
            <a:r>
              <a:rPr lang="en-US" altLang="zh-CN" sz="1400" dirty="0" err="1">
                <a:solidFill>
                  <a:srgbClr val="3C3C3C"/>
                </a:solidFill>
                <a:latin typeface="Noto Sans SC"/>
                <a:ea typeface="Noto Sans SC"/>
              </a:rPr>
              <a:t>css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文件中，自定义搜索组件写在</a:t>
            </a:r>
            <a:r>
              <a:rPr lang="en-US" altLang="zh-CN" sz="1400" dirty="0" err="1">
                <a:solidFill>
                  <a:srgbClr val="3C3C3C"/>
                </a:solidFill>
                <a:latin typeface="Noto Sans SC"/>
                <a:ea typeface="Noto Sans SC"/>
              </a:rPr>
              <a:t>footer.hbs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</a:rPr>
              <a:t>组件里。任何视觉或功能修改都可以在源码中精确定位。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自主功能实现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本地搜索运行效果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t="55" b="55"/>
          <a:stretch>
            <a:fillRect/>
          </a:stretch>
        </p:blipFill>
        <p:spPr>
          <a:xfrm>
            <a:off x="693057" y="1625600"/>
            <a:ext cx="7928429" cy="49657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4E3C481-C5ED-48D8-9A5B-3906CBA947BD}"/>
              </a:ext>
            </a:extLst>
          </p:cNvPr>
          <p:cNvSpPr txBox="1"/>
          <p:nvPr/>
        </p:nvSpPr>
        <p:spPr>
          <a:xfrm>
            <a:off x="8621486" y="2274838"/>
            <a:ext cx="3570514" cy="3195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本地搜索功能实际运行效果：输入关键词月亮后，系统通过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Content API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拉取文章数据，在前端实时过滤匹配的文章，返回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《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月亮与六便士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》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阅读笔记。这是基于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 Content API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自主开发的非换色类功能，不依赖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默认搜索集成。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自定义主题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主题启用结果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l="6192" r="6192"/>
          <a:stretch>
            <a:fillRect/>
          </a:stretch>
        </p:blipFill>
        <p:spPr>
          <a:xfrm>
            <a:off x="1016000" y="1700627"/>
            <a:ext cx="7549243" cy="51181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CEB67F1-A44D-4E60-A1F9-31CD163F3A68}"/>
              </a:ext>
            </a:extLst>
          </p:cNvPr>
          <p:cNvSpPr txBox="1"/>
          <p:nvPr/>
        </p:nvSpPr>
        <p:spPr>
          <a:xfrm>
            <a:off x="8588828" y="2545808"/>
            <a:ext cx="3124200" cy="358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后台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Design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设置中，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my-theme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成功出现在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Installed themes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列表中，点击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Activate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后显示绿色提示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Theme activated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，自定义主题已正式启用。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Active theme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显示为</a:t>
            </a:r>
            <a:r>
              <a:rPr lang="en-US" altLang="zh-CN" dirty="0" err="1">
                <a:solidFill>
                  <a:srgbClr val="3C3C3C"/>
                </a:solidFill>
                <a:latin typeface="Noto Sans SC"/>
                <a:ea typeface="Noto Sans SC"/>
              </a:rPr>
              <a:t>casper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 (my-theme)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，证明主题切换成功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自定义主题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窄屏（移动端）适配效果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l="160" r="160"/>
          <a:stretch>
            <a:fillRect/>
          </a:stretch>
        </p:blipFill>
        <p:spPr>
          <a:xfrm>
            <a:off x="1016000" y="1705429"/>
            <a:ext cx="6350000" cy="49657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E909C33-54C8-4811-A59D-9D6FC86D28E7}"/>
              </a:ext>
            </a:extLst>
          </p:cNvPr>
          <p:cNvSpPr txBox="1"/>
          <p:nvPr/>
        </p:nvSpPr>
        <p:spPr>
          <a:xfrm>
            <a:off x="8719457" y="2480119"/>
            <a:ext cx="2743199" cy="358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自定义主题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my-theme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在窄屏（移动端）下的适配效果：页面自动切换为单列布局，内容垂直堆叠，导航折叠显示，文章卡片自适应宽度。基于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Casper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主题的响应式设计，桌面端和窄屏下均可正常浏览。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核心功能模块 (3/4)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基于Content API的本地搜索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784929"/>
            <a:ext cx="4826000" cy="279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dirty="0" err="1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在Ghost后台创建自定义集成，获取Content</a:t>
            </a:r>
            <a:r>
              <a:rPr lang="en-US" dirty="0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 API Key</a:t>
            </a:r>
          </a:p>
          <a:p>
            <a:pPr marL="177800" marR="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dirty="0" err="1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页面加载时，前端JS调用API拉取全部已发布文章</a:t>
            </a:r>
            <a:endParaRPr lang="en-US" dirty="0">
              <a:solidFill>
                <a:srgbClr val="3C3C3C"/>
              </a:solidFill>
              <a:latin typeface="Noto Sans SC"/>
              <a:ea typeface="Noto Sans SC"/>
              <a:sym typeface="Noto Sans SC"/>
            </a:endParaRPr>
          </a:p>
          <a:p>
            <a:pPr marL="177800" marR="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dirty="0" err="1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文章数据保存在浏览器内存中，建立本地索引</a:t>
            </a:r>
            <a:endParaRPr lang="en-US" dirty="0">
              <a:solidFill>
                <a:srgbClr val="3C3C3C"/>
              </a:solidFill>
              <a:latin typeface="Noto Sans SC"/>
              <a:ea typeface="Noto Sans SC"/>
              <a:sym typeface="Noto Sans SC"/>
            </a:endParaRPr>
          </a:p>
          <a:p>
            <a:pPr marL="177800" marR="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dirty="0" err="1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用户输入关键词后，在前端完成字符串匹配</a:t>
            </a:r>
            <a:endParaRPr lang="en-US" dirty="0">
              <a:solidFill>
                <a:srgbClr val="3C3C3C"/>
              </a:solidFill>
              <a:latin typeface="Noto Sans SC"/>
              <a:ea typeface="Noto Sans SC"/>
              <a:sym typeface="Noto Sans SC"/>
            </a:endParaRPr>
          </a:p>
          <a:p>
            <a:pPr marL="177800" marR="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dirty="0" err="1">
                <a:solidFill>
                  <a:srgbClr val="3C3C3C"/>
                </a:solidFill>
                <a:latin typeface="Noto Sans SC"/>
                <a:ea typeface="Noto Sans SC"/>
                <a:sym typeface="Noto Sans SC"/>
              </a:rPr>
              <a:t>筛选标题、摘要中包含关键词的文章并展示结果</a:t>
            </a:r>
            <a:endParaRPr lang="en-US" dirty="0">
              <a:solidFill>
                <a:srgbClr val="3C3C3C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6604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搜索流程</a:t>
            </a:r>
          </a:p>
        </p:txBody>
      </p:sp>
      <p:sp>
        <p:nvSpPr>
          <p:cNvPr id="8" name="Text Box 7"/>
          <p:cNvSpPr txBox="1">
            <a:spLocks noGrp="1"/>
          </p:cNvSpPr>
          <p:nvPr/>
        </p:nvSpPr>
        <p:spPr>
          <a:xfrm>
            <a:off x="6604000" y="2603500"/>
            <a:ext cx="4572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页面加载</a:t>
            </a:r>
          </a:p>
        </p:txBody>
      </p:sp>
      <p:cxnSp>
        <p:nvCxnSpPr>
          <p:cNvPr id="9" name="Connector"/>
          <p:cNvCxnSpPr/>
          <p:nvPr/>
        </p:nvCxnSpPr>
        <p:spPr>
          <a:xfrm rot="5228255">
            <a:off x="8763000" y="3143409"/>
            <a:ext cx="254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02FA7"/>
            </a:solidFill>
            <a:round/>
            <a:tailEnd type="arrow" w="lg" len="lg"/>
          </a:ln>
        </p:spPr>
      </p:cxnSp>
      <p:sp>
        <p:nvSpPr>
          <p:cNvPr id="10" name="Text Box 9"/>
          <p:cNvSpPr txBox="1">
            <a:spLocks noGrp="1"/>
          </p:cNvSpPr>
          <p:nvPr/>
        </p:nvSpPr>
        <p:spPr>
          <a:xfrm>
            <a:off x="6604000" y="3302000"/>
            <a:ext cx="4572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调用Content API拉取文章JSON</a:t>
            </a:r>
          </a:p>
        </p:txBody>
      </p:sp>
      <p:cxnSp>
        <p:nvCxnSpPr>
          <p:cNvPr id="11" name="Connector"/>
          <p:cNvCxnSpPr/>
          <p:nvPr/>
        </p:nvCxnSpPr>
        <p:spPr>
          <a:xfrm rot="5228255">
            <a:off x="8763000" y="3841909"/>
            <a:ext cx="254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02FA7"/>
            </a:solidFill>
            <a:round/>
            <a:tailEnd type="arrow" w="lg" len="lg"/>
          </a:ln>
        </p:spPr>
      </p:cxnSp>
      <p:sp>
        <p:nvSpPr>
          <p:cNvPr id="12" name="Text Box 11"/>
          <p:cNvSpPr txBox="1">
            <a:spLocks noGrp="1"/>
          </p:cNvSpPr>
          <p:nvPr/>
        </p:nvSpPr>
        <p:spPr>
          <a:xfrm>
            <a:off x="6604000" y="4000500"/>
            <a:ext cx="4572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内存中存储全部文章数据</a:t>
            </a:r>
          </a:p>
        </p:txBody>
      </p:sp>
      <p:cxnSp>
        <p:nvCxnSpPr>
          <p:cNvPr id="13" name="Connector"/>
          <p:cNvCxnSpPr/>
          <p:nvPr/>
        </p:nvCxnSpPr>
        <p:spPr>
          <a:xfrm rot="5228255">
            <a:off x="8763000" y="4540409"/>
            <a:ext cx="254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02FA7"/>
            </a:solidFill>
            <a:round/>
            <a:tailEnd type="arrow" w="lg" len="lg"/>
          </a:ln>
        </p:spPr>
      </p:cxnSp>
      <p:sp>
        <p:nvSpPr>
          <p:cNvPr id="14" name="Text Box 13"/>
          <p:cNvSpPr txBox="1">
            <a:spLocks noGrp="1"/>
          </p:cNvSpPr>
          <p:nvPr/>
        </p:nvSpPr>
        <p:spPr>
          <a:xfrm>
            <a:off x="6604000" y="4699000"/>
            <a:ext cx="4572000" cy="457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输入关键词 → 前端本地匹配 → 展示结果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CCA5DF-37F5-4862-84F5-A7A940C581BE}"/>
              </a:ext>
            </a:extLst>
          </p:cNvPr>
          <p:cNvSpPr txBox="1"/>
          <p:nvPr/>
        </p:nvSpPr>
        <p:spPr>
          <a:xfrm>
            <a:off x="1016000" y="5761335"/>
            <a:ext cx="100656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00000"/>
              </a:lnSpc>
            </a:pPr>
            <a:r>
              <a:rPr lang="en-US" altLang="zh-CN" sz="1800" i="0" u="none" strike="noStrike" spc="0" dirty="0" err="1">
                <a:solidFill>
                  <a:srgbClr val="000000"/>
                </a:solidFill>
                <a:latin typeface="Arial"/>
                <a:ea typeface="Noto Sans SC"/>
                <a:cs typeface="Arial"/>
                <a:sym typeface="Arial"/>
              </a:rPr>
              <a:t>第三个模块是本地关键词搜索。我们基于Ghost</a:t>
            </a:r>
            <a:r>
              <a:rPr lang="en-US" altLang="zh-CN" sz="1800" i="0" u="none" strike="noStrike" spc="0" dirty="0">
                <a:solidFill>
                  <a:srgbClr val="000000"/>
                </a:solidFill>
                <a:latin typeface="Arial"/>
                <a:ea typeface="Noto Sans SC"/>
                <a:cs typeface="Arial"/>
                <a:sym typeface="Arial"/>
              </a:rPr>
              <a:t> Content API自主实现了前端搜索功能。页面加载时一次性拉取所有已发布文章，用户输入关键词后在浏览器内存中完成匹配，不需要后端数据库查询。整个检索过程在前端完成，实现了按关键词快速查找文章。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系统运行效果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会员权限配置与会员列表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l="17" r="17"/>
          <a:stretch>
            <a:fillRect/>
          </a:stretch>
        </p:blipFill>
        <p:spPr>
          <a:xfrm>
            <a:off x="1016000" y="1714500"/>
            <a:ext cx="6223000" cy="3238500"/>
          </a:xfrm>
          <a:prstGeom prst="rect">
            <a:avLst/>
          </a:prstGeom>
          <a:ln w="12700" cap="flat" cmpd="sng">
            <a:noFill/>
            <a:round/>
          </a:ln>
        </p:spPr>
      </p:pic>
      <p:pic>
        <p:nvPicPr>
          <p:cNvPr id="6" name="Picture 5"/>
          <p:cNvPicPr/>
          <p:nvPr/>
        </p:nvPicPr>
        <p:blipFill>
          <a:blip r:embed="rId4"/>
          <a:srcRect t="217" b="217"/>
          <a:stretch>
            <a:fillRect/>
          </a:stretch>
        </p:blipFill>
        <p:spPr>
          <a:xfrm>
            <a:off x="7493000" y="2032000"/>
            <a:ext cx="3683000" cy="14859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Text Box 6"/>
          <p:cNvSpPr txBox="1">
            <a:spLocks noGrp="1"/>
          </p:cNvSpPr>
          <p:nvPr/>
        </p:nvSpPr>
        <p:spPr>
          <a:xfrm>
            <a:off x="1016000" y="5080000"/>
            <a:ext cx="6223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左：Membership访问权限设置，评论权限设为All members</a:t>
            </a:r>
          </a:p>
        </p:txBody>
      </p:sp>
      <p:sp>
        <p:nvSpPr>
          <p:cNvPr id="8" name="Text Box 7"/>
          <p:cNvSpPr txBox="1">
            <a:spLocks noGrp="1"/>
          </p:cNvSpPr>
          <p:nvPr/>
        </p:nvSpPr>
        <p:spPr>
          <a:xfrm>
            <a:off x="7493000" y="3683000"/>
            <a:ext cx="3683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右：已注册会员列表（MemberA、MemberB）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14FF4E-8CFE-4A28-854A-23A3D7734BC8}"/>
              </a:ext>
            </a:extLst>
          </p:cNvPr>
          <p:cNvSpPr txBox="1"/>
          <p:nvPr/>
        </p:nvSpPr>
        <p:spPr>
          <a:xfrm>
            <a:off x="816428" y="5473700"/>
            <a:ext cx="10559143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这是会员权限的实际配置界面。左侧是</a:t>
            </a:r>
            <a:r>
              <a:rPr lang="en-US" altLang="zh-CN" sz="1600" dirty="0">
                <a:solidFill>
                  <a:srgbClr val="3C3C3C"/>
                </a:solidFill>
                <a:latin typeface="Noto Sans SC"/>
                <a:ea typeface="Noto Sans SC"/>
              </a:rPr>
              <a:t>Membership</a:t>
            </a: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设置页面，我们将评论权限</a:t>
            </a:r>
            <a:r>
              <a:rPr lang="en-US" altLang="zh-CN" sz="1600" dirty="0">
                <a:solidFill>
                  <a:srgbClr val="3C3C3C"/>
                </a:solidFill>
                <a:latin typeface="Noto Sans SC"/>
                <a:ea typeface="Noto Sans SC"/>
              </a:rPr>
              <a:t>Who can comment on posts</a:t>
            </a: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设置为</a:t>
            </a:r>
            <a:r>
              <a:rPr lang="en-US" altLang="zh-CN" sz="1600" dirty="0">
                <a:solidFill>
                  <a:srgbClr val="3C3C3C"/>
                </a:solidFill>
                <a:latin typeface="Noto Sans SC"/>
                <a:ea typeface="Noto Sans SC"/>
              </a:rPr>
              <a:t>All members</a:t>
            </a: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，即只有登录会员才能发表评论。右侧是会员管理列表，可以看到已经创建了两个测试会员</a:t>
            </a:r>
            <a:r>
              <a:rPr lang="en-US" altLang="zh-CN" sz="1600" dirty="0" err="1">
                <a:solidFill>
                  <a:srgbClr val="3C3C3C"/>
                </a:solidFill>
                <a:latin typeface="Noto Sans SC"/>
                <a:ea typeface="Noto Sans SC"/>
              </a:rPr>
              <a:t>MemberA</a:t>
            </a: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和</a:t>
            </a:r>
            <a:r>
              <a:rPr lang="en-US" altLang="zh-CN" sz="1600" dirty="0" err="1">
                <a:solidFill>
                  <a:srgbClr val="3C3C3C"/>
                </a:solidFill>
                <a:latin typeface="Noto Sans SC"/>
                <a:ea typeface="Noto Sans SC"/>
              </a:rPr>
              <a:t>MemberB</a:t>
            </a:r>
            <a:r>
              <a:rPr lang="zh-CN" altLang="en-US" sz="1600" dirty="0">
                <a:solidFill>
                  <a:srgbClr val="3C3C3C"/>
                </a:solidFill>
                <a:latin typeface="Noto Sans SC"/>
                <a:ea typeface="Noto Sans SC"/>
              </a:rPr>
              <a:t>。游客访问文章页面时没有评论输入框，只有登录会员才能评论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核心功能模块 (4/4)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会员评论权限控制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权限配置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03500"/>
            <a:ext cx="4826000" cy="279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后台Settings → Membership设置评论权限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评论权限设为 All members：仅登录会员可评论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游客浏览文章时，底部仅显示登录提示，无输入框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登录会员可在文章底部发表评论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后台Comments菜单可审核管理所有评论</a:t>
            </a: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6604000" y="21590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访问角色与权限</a:t>
            </a:r>
          </a:p>
        </p:txBody>
      </p:sp>
      <p:graphicFrame>
        <p:nvGraphicFramePr>
          <p:cNvPr id="8" name="Table"/>
          <p:cNvGraphicFramePr/>
          <p:nvPr/>
        </p:nvGraphicFramePr>
        <p:xfrm>
          <a:off x="6604000" y="2603500"/>
          <a:ext cx="4572000" cy="2286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游客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会员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浏览文章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搜索文章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发表评论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B4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禁止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73AA353-E6EF-4E00-AD5A-049A97ABFE91}"/>
              </a:ext>
            </a:extLst>
          </p:cNvPr>
          <p:cNvSpPr txBox="1"/>
          <p:nvPr/>
        </p:nvSpPr>
        <p:spPr>
          <a:xfrm>
            <a:off x="1052286" y="51036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第四个模块是会员评论权限控制。我们在后台将评论权限设置为仅会员可评论。游客可以自由浏览所有文章和使用搜索功能，但没有评论输入框；只有登录会员才能在文章底部发表评论。管理员可以在后台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Comments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菜单审核管理所有评论。受本地环境限制，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SMTP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邮件服务未配置，会员登录魔法链接无法投递，但权限逻辑已完整配置。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测试用例与结果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功能测试用例与结果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graphicFrame>
        <p:nvGraphicFramePr>
          <p:cNvPr id="5" name="Table"/>
          <p:cNvGraphicFramePr/>
          <p:nvPr/>
        </p:nvGraphicFramePr>
        <p:xfrm>
          <a:off x="1016000" y="2159000"/>
          <a:ext cx="10160000" cy="3556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测试模块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测试内容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预期结果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T01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文章发布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后台新建文章并发布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前台可见该文章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T02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标签分类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文章绑定标签后前台归档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标签页显示同标签文章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T03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本地搜索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输入关键词"部署"搜索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返回含该关键词的文章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T04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评论权限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游客访问文章页底部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无评论输入框，仅提示登录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T05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自定义主题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修改footer.hbs后刷新前台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页面效果同步更新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3C82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4546853-D18F-4759-9C94-633F0542BD7F}"/>
              </a:ext>
            </a:extLst>
          </p:cNvPr>
          <p:cNvSpPr txBox="1"/>
          <p:nvPr/>
        </p:nvSpPr>
        <p:spPr>
          <a:xfrm>
            <a:off x="1016000" y="5761335"/>
            <a:ext cx="9706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我们设计了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5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个核心功能测试用例，覆盖文章发布、标签分类、本地搜索、评论权限和自定义主题五个模块。所有测试用例均通过：文章发布后前台可见，标签归档正常，关键词搜索能正确返回匹配文章，游客无评论输入框，主题源码修改后页面效果同步更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主题校验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自定义主题兼容性校验结果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t="524" b="524"/>
          <a:stretch>
            <a:fillRect/>
          </a:stretch>
        </p:blipFill>
        <p:spPr>
          <a:xfrm>
            <a:off x="257629" y="1647371"/>
            <a:ext cx="7765144" cy="51435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FA1C249-E615-4355-9676-82BC6BAABE60}"/>
              </a:ext>
            </a:extLst>
          </p:cNvPr>
          <p:cNvSpPr txBox="1"/>
          <p:nvPr/>
        </p:nvSpPr>
        <p:spPr>
          <a:xfrm>
            <a:off x="8131628" y="2400300"/>
            <a:ext cx="35160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使用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官方主题校验工具</a:t>
            </a:r>
            <a:r>
              <a:rPr lang="en-US" altLang="zh-CN" dirty="0" err="1">
                <a:solidFill>
                  <a:srgbClr val="3C3C3C"/>
                </a:solidFill>
                <a:latin typeface="Noto Sans SC"/>
                <a:ea typeface="Noto Sans SC"/>
              </a:rPr>
              <a:t>gscan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对自定义主题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my-theme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进行兼容性检查。校验结果显示：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Your theme is compatible with Ghost 6.x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，表示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my-theme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通过了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Ghost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官方主题规范校验，必需的模板文件、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Handlebars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语法和</a:t>
            </a:r>
            <a:r>
              <a:rPr lang="en-US" altLang="zh-CN" dirty="0" err="1">
                <a:solidFill>
                  <a:srgbClr val="3C3C3C"/>
                </a:solidFill>
                <a:latin typeface="Noto Sans SC"/>
                <a:ea typeface="Noto Sans SC"/>
              </a:rPr>
              <a:t>package.json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均符合要求，可以正常使用。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开发过程记录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8636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Git分支与提交记录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r:embed="rId3"/>
          <a:srcRect l="48" r="48"/>
          <a:stretch>
            <a:fillRect/>
          </a:stretch>
        </p:blipFill>
        <p:spPr>
          <a:xfrm>
            <a:off x="571499" y="1676400"/>
            <a:ext cx="7092043" cy="45339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6" name="Text Box 5"/>
          <p:cNvSpPr txBox="1">
            <a:spLocks noGrp="1"/>
          </p:cNvSpPr>
          <p:nvPr/>
        </p:nvSpPr>
        <p:spPr>
          <a:xfrm>
            <a:off x="-1981200" y="6350000"/>
            <a:ext cx="10504714" cy="562428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main分支：init部署 + 会员权限配置 | feature/local-search分支：搜索功能开发后合并回main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85C952-0C19-4E63-81D9-D8988E0F8F6F}"/>
              </a:ext>
            </a:extLst>
          </p:cNvPr>
          <p:cNvSpPr txBox="1"/>
          <p:nvPr/>
        </p:nvSpPr>
        <p:spPr>
          <a:xfrm>
            <a:off x="8938986" y="2082790"/>
            <a:ext cx="22370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使用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Git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进行版本管理。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main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分支记录了初始部署和会员权限配置；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feature/local-search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分支用于开发本地搜索功能，完成后通过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merge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合并回主分支。共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</a:rPr>
              <a:t>4</a:t>
            </a:r>
            <a:r>
              <a:rPr lang="zh-CN" altLang="en-US" dirty="0">
                <a:solidFill>
                  <a:srgbClr val="3C3C3C"/>
                </a:solidFill>
                <a:latin typeface="Noto Sans SC"/>
                <a:ea typeface="Noto Sans SC"/>
              </a:rPr>
              <a:t>次提交，包含功能分支开发和合并过程，体现了完整的开发流程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05 · 问题与解决方案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实验中遇到的问题与解决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222500"/>
            <a:ext cx="10160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endParaRPr lang="en-US" sz="1500" b="1" i="0" u="none" strike="noStrike" spc="0" dirty="0">
              <a:solidFill>
                <a:srgbClr val="B4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endParaRPr lang="en-US" sz="1300" b="0" i="0" u="none" strike="noStrike" spc="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7" name="Connector"/>
          <p:cNvCxnSpPr/>
          <p:nvPr/>
        </p:nvCxnSpPr>
        <p:spPr>
          <a:xfrm rot="-4297">
            <a:off x="1016004" y="3613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8" name="Text Box 7"/>
          <p:cNvSpPr txBox="1">
            <a:spLocks noGrp="1"/>
          </p:cNvSpPr>
          <p:nvPr/>
        </p:nvSpPr>
        <p:spPr>
          <a:xfrm>
            <a:off x="1016000" y="1943100"/>
            <a:ext cx="10160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 dirty="0" err="1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r>
              <a:rPr lang="zh-CN" altLang="en-US" sz="1500" b="1" i="0" u="none" strike="noStrike" spc="0" dirty="0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r>
              <a:rPr lang="en-US" sz="1500" b="1" i="0" u="none" strike="noStrike" spc="0" dirty="0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500" b="1" i="0" u="none" strike="noStrike" spc="0" dirty="0" err="1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配置文件JSON语法错误导致服务启动失败</a:t>
            </a:r>
            <a:endParaRPr lang="en-US" sz="1500" b="1" i="0" u="none" strike="noStrike" spc="0" dirty="0">
              <a:solidFill>
                <a:srgbClr val="B4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1016000" y="252095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原因：修改config.production.json时多余逗号或引号不匹配，Ghost直接启动报错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algn="l">
              <a:lnSpc>
                <a:spcPct val="125000"/>
              </a:lnSpc>
            </a:pP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解决：严格检查JSON语法，使用ghost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log命令查看错误日志，修正后执行ghost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restart重启服务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10" name="Connector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11" name="Text Box 10"/>
          <p:cNvSpPr txBox="1">
            <a:spLocks noGrp="1"/>
          </p:cNvSpPr>
          <p:nvPr/>
        </p:nvSpPr>
        <p:spPr>
          <a:xfrm>
            <a:off x="1016000" y="3968750"/>
            <a:ext cx="10160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 dirty="0" err="1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r>
              <a:rPr lang="zh-CN" altLang="en-US" sz="1500" b="1" i="0" u="none" strike="noStrike" spc="0" dirty="0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1500" b="1" i="0" u="none" strike="noStrike" spc="0" dirty="0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500" b="1" i="0" u="none" strike="noStrike" spc="0" dirty="0" err="1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多次提交邮箱触发登录限流</a:t>
            </a:r>
            <a:endParaRPr lang="en-US" sz="1500" b="1" i="0" u="none" strike="noStrike" spc="0" dirty="0">
              <a:solidFill>
                <a:srgbClr val="B4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Text Box 11"/>
          <p:cNvSpPr txBox="1">
            <a:spLocks noGrp="1"/>
          </p:cNvSpPr>
          <p:nvPr/>
        </p:nvSpPr>
        <p:spPr>
          <a:xfrm>
            <a:off x="1016000" y="44069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原因：系统安全机制检测到多次登录尝试，返回Too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many sign-in </a:t>
            </a: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attempts错误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algn="l">
              <a:lnSpc>
                <a:spcPct val="125000"/>
              </a:lnSpc>
            </a:pPr>
            <a:r>
              <a:rPr lang="en-US" sz="1300" b="0" i="0" u="none" strike="noStrike" spc="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解决：等待限流窗口过期后再重试</a:t>
            </a:r>
            <a:r>
              <a:rPr lang="en-US" sz="1300" b="0" i="0" u="none" strike="noStrike" spc="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05 · 思考题与讨论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思考题与讨论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095500"/>
            <a:ext cx="50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587500" y="2095500"/>
            <a:ext cx="95885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16666"/>
              </a:lnSpc>
            </a:pPr>
            <a:r>
              <a:rPr lang="en-US" sz="1300" b="0" i="0" u="none" strike="noStrike" spc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为何修改主题而非Ghost核心？对升级有何影响？</a:t>
            </a: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1587500" y="2540000"/>
            <a:ext cx="95885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答：主题与内核解耦，改主题不破坏底层；升级时自定义主题不被覆盖，改核心则升级冲突极大。</a:t>
            </a:r>
          </a:p>
        </p:txBody>
      </p:sp>
      <p:cxnSp>
        <p:nvCxnSpPr>
          <p:cNvPr id="8" name="Connector"/>
          <p:cNvCxnSpPr/>
          <p:nvPr/>
        </p:nvCxnSpPr>
        <p:spPr>
          <a:xfrm rot="-4297">
            <a:off x="1016004" y="3016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9" name="Text Box 8"/>
          <p:cNvSpPr txBox="1">
            <a:spLocks noGrp="1"/>
          </p:cNvSpPr>
          <p:nvPr/>
        </p:nvSpPr>
        <p:spPr>
          <a:xfrm>
            <a:off x="1016000" y="3175000"/>
            <a:ext cx="50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</a:p>
        </p:txBody>
      </p:sp>
      <p:sp>
        <p:nvSpPr>
          <p:cNvPr id="10" name="Text Box 9"/>
          <p:cNvSpPr txBox="1">
            <a:spLocks noGrp="1"/>
          </p:cNvSpPr>
          <p:nvPr/>
        </p:nvSpPr>
        <p:spPr>
          <a:xfrm>
            <a:off x="1587500" y="3175000"/>
            <a:ext cx="95885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16666"/>
              </a:lnSpc>
            </a:pPr>
            <a:r>
              <a:rPr lang="en-US" sz="1300" b="0" i="0" u="none" strike="noStrike" spc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RealWorld统一API规范与Ghost完整产品路线各适合什么教学目标？</a:t>
            </a:r>
          </a:p>
        </p:txBody>
      </p:sp>
      <p:sp>
        <p:nvSpPr>
          <p:cNvPr id="11" name="Text Box 10"/>
          <p:cNvSpPr txBox="1">
            <a:spLocks noGrp="1"/>
          </p:cNvSpPr>
          <p:nvPr/>
        </p:nvSpPr>
        <p:spPr>
          <a:xfrm>
            <a:off x="1587500" y="3619500"/>
            <a:ext cx="95885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答：RealWorld训练前后端分离与接口对接；Ghost训练成熟产品的二次开发与主题定制。</a:t>
            </a:r>
          </a:p>
        </p:txBody>
      </p:sp>
      <p:cxnSp>
        <p:nvCxnSpPr>
          <p:cNvPr id="12" name="Connector"/>
          <p:cNvCxnSpPr/>
          <p:nvPr/>
        </p:nvCxnSpPr>
        <p:spPr>
          <a:xfrm rot="-4297">
            <a:off x="1016004" y="40957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13" name="Text Box 12"/>
          <p:cNvSpPr txBox="1">
            <a:spLocks noGrp="1"/>
          </p:cNvSpPr>
          <p:nvPr/>
        </p:nvSpPr>
        <p:spPr>
          <a:xfrm>
            <a:off x="1016000" y="4254500"/>
            <a:ext cx="50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</a:p>
        </p:txBody>
      </p:sp>
      <p:sp>
        <p:nvSpPr>
          <p:cNvPr id="14" name="Text Box 13"/>
          <p:cNvSpPr txBox="1">
            <a:spLocks noGrp="1"/>
          </p:cNvSpPr>
          <p:nvPr/>
        </p:nvSpPr>
        <p:spPr>
          <a:xfrm>
            <a:off x="1587500" y="4254500"/>
            <a:ext cx="95885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16666"/>
              </a:lnSpc>
            </a:pPr>
            <a:r>
              <a:rPr lang="en-US" sz="1300" b="0" i="0" u="none" strike="noStrike" spc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搜索改为服务端全文索引后，一致性、隐私、部署复杂度如何变化？</a:t>
            </a:r>
          </a:p>
        </p:txBody>
      </p:sp>
      <p:sp>
        <p:nvSpPr>
          <p:cNvPr id="15" name="Text Box 14"/>
          <p:cNvSpPr txBox="1">
            <a:spLocks noGrp="1"/>
          </p:cNvSpPr>
          <p:nvPr/>
        </p:nvSpPr>
        <p:spPr>
          <a:xfrm>
            <a:off x="1587500" y="4699000"/>
            <a:ext cx="95885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答：需额外同步索引，存在短暂不一致；内容多一份副本，隐私风险上升；部署运维复杂度显著增加。</a:t>
            </a:r>
          </a:p>
        </p:txBody>
      </p:sp>
      <p:cxnSp>
        <p:nvCxnSpPr>
          <p:cNvPr id="16" name="Connector"/>
          <p:cNvCxnSpPr/>
          <p:nvPr/>
        </p:nvCxnSpPr>
        <p:spPr>
          <a:xfrm rot="-4297">
            <a:off x="1016004" y="51752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CDCDC"/>
            </a:solidFill>
            <a:round/>
          </a:ln>
        </p:spPr>
      </p:cxnSp>
      <p:sp>
        <p:nvSpPr>
          <p:cNvPr id="17" name="Text Box 16"/>
          <p:cNvSpPr txBox="1">
            <a:spLocks noGrp="1"/>
          </p:cNvSpPr>
          <p:nvPr/>
        </p:nvSpPr>
        <p:spPr>
          <a:xfrm>
            <a:off x="1016000" y="5334000"/>
            <a:ext cx="508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Q4</a:t>
            </a:r>
          </a:p>
        </p:txBody>
      </p:sp>
      <p:sp>
        <p:nvSpPr>
          <p:cNvPr id="18" name="Text Box 17"/>
          <p:cNvSpPr txBox="1">
            <a:spLocks noGrp="1"/>
          </p:cNvSpPr>
          <p:nvPr/>
        </p:nvSpPr>
        <p:spPr>
          <a:xfrm>
            <a:off x="1587500" y="5334000"/>
            <a:ext cx="9588500" cy="558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16666"/>
              </a:lnSpc>
            </a:pPr>
            <a:r>
              <a:rPr lang="en-US" sz="1300" b="0" i="0" u="none" strike="noStrike" spc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如何用Git证据区分安装配置、界面修改和有工程价值的二次开发？</a:t>
            </a:r>
          </a:p>
        </p:txBody>
      </p:sp>
      <p:sp>
        <p:nvSpPr>
          <p:cNvPr id="19" name="Text Box 18"/>
          <p:cNvSpPr txBox="1">
            <a:spLocks noGrp="1"/>
          </p:cNvSpPr>
          <p:nvPr/>
        </p:nvSpPr>
        <p:spPr>
          <a:xfrm>
            <a:off x="1587500" y="5778500"/>
            <a:ext cx="95885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答：看commit diff：仅改配置=安装；仅改CSS文案=界面微调；新增组件与独立JS模块=二次开发。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总结与展望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实验总结与后续改进方向</a:t>
            </a:r>
          </a:p>
        </p:txBody>
      </p:sp>
      <p:cxnSp>
        <p:nvCxnSpPr>
          <p:cNvPr id="4" name="Connector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8C8C8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016000" y="22225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实验成果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2667000"/>
            <a:ext cx="4826000" cy="279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完成Ghost CMS本地部署与基础配置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实现文章发布、标签分类（3个标签，15篇文章）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复制Casper主题创建自定义主题，修改可在源码定位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基于Content API实现前端本地关键词搜索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配置会员评论权限，完成权限区分</a:t>
            </a:r>
          </a:p>
        </p:txBody>
      </p:sp>
      <p:cxnSp>
        <p:nvCxnSpPr>
          <p:cNvPr id="7" name="Connector"/>
          <p:cNvCxnSpPr/>
          <p:nvPr/>
        </p:nvCxnSpPr>
        <p:spPr>
          <a:xfrm rot="5386518">
            <a:off x="4603750" y="3835412"/>
            <a:ext cx="32385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2D2D2"/>
            </a:solidFill>
            <a:round/>
          </a:ln>
        </p:spPr>
      </p:cxnSp>
      <p:sp>
        <p:nvSpPr>
          <p:cNvPr id="8" name="Text Box 7"/>
          <p:cNvSpPr txBox="1">
            <a:spLocks noGrp="1"/>
          </p:cNvSpPr>
          <p:nvPr/>
        </p:nvSpPr>
        <p:spPr>
          <a:xfrm>
            <a:off x="6604000" y="2222500"/>
            <a:ext cx="48260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后续改进</a:t>
            </a:r>
          </a:p>
        </p:txBody>
      </p:sp>
      <p:sp>
        <p:nvSpPr>
          <p:cNvPr id="9" name="Text Box 8"/>
          <p:cNvSpPr txBox="1">
            <a:spLocks noGrp="1"/>
          </p:cNvSpPr>
          <p:nvPr/>
        </p:nvSpPr>
        <p:spPr>
          <a:xfrm>
            <a:off x="6604000" y="2667000"/>
            <a:ext cx="4826000" cy="279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l"/>
          </a:lstStyle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配置SMTP邮件服务，实现完整会员登录流程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优化搜索功能，支持全文检索与模糊匹配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进一步定制主题视觉，完善页面样式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部署至公网服务器，实现远程访问</a:t>
            </a:r>
          </a:p>
          <a:p>
            <a:pPr marL="177800" marR="0" indent="-177800" algn="l">
              <a:lnSpc>
                <a:spcPct val="141666"/>
              </a:lnSpc>
              <a:buClr>
                <a:srgbClr val="3C3C3C"/>
              </a:buClr>
              <a:buFont typeface="Arial"/>
              <a:buChar char="•"/>
            </a:pPr>
            <a:r>
              <a:rPr lang="en-US" sz="1400" b="0" i="0" u="none" strike="noStrike" spc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增加文章浏览统计、RSS订阅等扩展功能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2661C1-3E04-4E1A-B94A-46A702963F50}"/>
              </a:ext>
            </a:extLst>
          </p:cNvPr>
          <p:cNvSpPr txBox="1"/>
          <p:nvPr/>
        </p:nvSpPr>
        <p:spPr>
          <a:xfrm>
            <a:off x="1016000" y="509066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  <a:sym typeface="Arial"/>
              </a:rPr>
              <a:t>本次实验完成了Ghost博客系统的本地部署、文章管理、自定义主题、本地搜索和评论权限五个核心模块。后续可以进一步配置SMTP实现完整会员登录、优化搜索功能、部署到公网服务器。通过本次实验，我深入理解了Web </a:t>
            </a:r>
            <a:r>
              <a:rPr lang="en-US" altLang="zh-CN" dirty="0" err="1">
                <a:solidFill>
                  <a:srgbClr val="3C3C3C"/>
                </a:solidFill>
                <a:latin typeface="Noto Sans SC"/>
                <a:ea typeface="Noto Sans SC"/>
                <a:sym typeface="Arial"/>
              </a:rPr>
              <a:t>CMS系统的架构原理和前后端分离开发模式</a:t>
            </a:r>
            <a:r>
              <a:rPr lang="en-US" altLang="zh-CN" dirty="0">
                <a:solidFill>
                  <a:srgbClr val="3C3C3C"/>
                </a:solidFill>
                <a:latin typeface="Noto Sans SC"/>
                <a:ea typeface="Noto Sans SC"/>
                <a:sym typeface="Arial"/>
              </a:rPr>
              <a:t>。</a:t>
            </a:r>
            <a:endParaRPr lang="zh-CN" altLang="en-US" dirty="0">
              <a:solidFill>
                <a:srgbClr val="3C3C3C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C9A66B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Text Box 2"/>
          <p:cNvSpPr txBox="1">
            <a:spLocks noGrp="1"/>
          </p:cNvSpPr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4800" b="1" i="0" u="none" strike="noStrike" spc="0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感谢各聆听</a:t>
            </a:r>
            <a:endParaRPr lang="en-US" sz="4800" b="1" i="0" u="none" strike="noStrike" spc="0" dirty="0">
              <a:solidFill>
                <a:srgbClr val="FFFFFF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4" name="Connector"/>
          <p:cNvCxnSpPr/>
          <p:nvPr/>
        </p:nvCxnSpPr>
        <p:spPr>
          <a:xfrm rot="-21485">
            <a:off x="5080020" y="3930650"/>
            <a:ext cx="20320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C9A66B"/>
            </a:solidFill>
            <a:round/>
          </a:ln>
        </p:spPr>
      </p:cxnSp>
      <p:sp>
        <p:nvSpPr>
          <p:cNvPr id="5" name="Text Box 4"/>
          <p:cNvSpPr txBox="1">
            <a:spLocks noGrp="1"/>
          </p:cNvSpPr>
          <p:nvPr/>
        </p:nvSpPr>
        <p:spPr>
          <a:xfrm>
            <a:off x="1190172" y="4318000"/>
            <a:ext cx="1016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600" b="0" i="0" u="none" strike="noStrike" spc="0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基于Ghost的个人博客系统设计与实现</a:t>
            </a:r>
            <a:r>
              <a:rPr lang="en-US" sz="1600" b="0" i="0" u="none" strike="noStrike" spc="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</p:txBody>
      </p:sp>
      <p:sp>
        <p:nvSpPr>
          <p:cNvPr id="6" name="Text Box 5"/>
          <p:cNvSpPr txBox="1">
            <a:spLocks noGrp="1"/>
          </p:cNvSpPr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algn="ctr"/>
          </a:lstStyle>
          <a:p>
            <a:pPr marL="0" marR="0" algn="ctr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1779</Words>
  <Application>Microsoft Office PowerPoint</Application>
  <PresentationFormat>宽屏</PresentationFormat>
  <Paragraphs>273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Noto Sans SC</vt:lpstr>
      <vt:lpstr>Noto Serif SC</vt:lpstr>
      <vt:lpstr>Roboto Mono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yong sun</cp:lastModifiedBy>
  <cp:revision>5</cp:revision>
  <dcterms:modified xsi:type="dcterms:W3CDTF">2026-10-11T10:34:40Z</dcterms:modified>
</cp:coreProperties>
</file>